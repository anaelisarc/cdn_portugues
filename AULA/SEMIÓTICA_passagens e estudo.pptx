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4"/>
  </p:sldMasterIdLst>
  <p:notesMasterIdLst>
    <p:notesMasterId r:id="rId12"/>
  </p:notesMasterIdLst>
  <p:handoutMasterIdLst>
    <p:handoutMasterId r:id="rId13"/>
  </p:handoutMasterIdLst>
  <p:sldIdLst>
    <p:sldId id="257" r:id="rId5"/>
    <p:sldId id="269" r:id="rId6"/>
    <p:sldId id="266" r:id="rId7"/>
    <p:sldId id="267" r:id="rId8"/>
    <p:sldId id="268" r:id="rId9"/>
    <p:sldId id="265" r:id="rId10"/>
    <p:sldId id="264" r:id="rId1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CB700D-7E1A-49E2-ABAD-092ACBACD43B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3E3353A-A592-44BD-B6AB-B98E47E0DF51}" type="datetime1">
              <a:rPr lang="pt-BR" smtClean="0"/>
              <a:t>19/03/2024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472D23-6933-4398-B088-86D87D4569A8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F9B11C-AD18-4A04-821E-C5366FCA14C8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4586AC-0217-4567-B29B-23EE9A9222A5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EA9A4D-5B4A-4536-B4F3-3781F06B7402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D2EFA0-DD31-4334-BD97-CA68CA1EAF7D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22C804-0B7D-49A4-9AA4-17093ACFAE26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F26C5998-667C-4083-8EAC-8B78C6E30EC5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C8F94-10C4-4E0E-B702-FA76FB225505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8CAC3A-C360-423D-8EE7-1FC8754818CB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BA3C67-7F45-4D7A-B048-0542E838373B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CCDFDDD-D174-442B-974C-2E7F8D4F71ED}" type="datetime1">
              <a:rPr lang="pt-BR" smtClean="0"/>
              <a:t>19/03/2024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undoalfal.org/CDAnaisXVII/trabalhos/R0716-1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008477"/>
          </a:xfrm>
        </p:spPr>
        <p:txBody>
          <a:bodyPr rtlCol="0">
            <a:normAutofit/>
          </a:bodyPr>
          <a:lstStyle/>
          <a:p>
            <a:r>
              <a:rPr lang="pt-BR" dirty="0"/>
              <a:t>Semiótica: estudo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2226365"/>
            <a:ext cx="11298932" cy="689113"/>
          </a:xfrm>
        </p:spPr>
        <p:txBody>
          <a:bodyPr rtlCol="0">
            <a:normAutofit fontScale="77500" lnSpcReduction="20000"/>
          </a:bodyPr>
          <a:lstStyle/>
          <a:p>
            <a:pPr rtl="0"/>
            <a:endParaRPr lang="pt-BR" dirty="0"/>
          </a:p>
          <a:p>
            <a:pPr algn="ctr" rtl="0"/>
            <a:r>
              <a:rPr lang="pt-BR" sz="2600" b="1" i="1" dirty="0">
                <a:solidFill>
                  <a:schemeClr val="tx1"/>
                </a:solidFill>
              </a:rPr>
              <a:t>Comunicação e expressão – Profa. Rosana Helena Nunes </a:t>
            </a:r>
            <a:endParaRPr lang="pt-br" sz="2600" b="1" i="1" dirty="0">
              <a:solidFill>
                <a:schemeClr val="tx1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6" name="Imagem 5" descr="Imagem ampliada de um logotipo&#10;&#10;Descrição gerada automaticament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1754BDC-73FD-4A70-88D7-21A52C33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422C804-0B7D-49A4-9AA4-17093ACFAE26}" type="datetime1">
              <a:rPr lang="pt-BR" smtClean="0"/>
              <a:t>19/03/2024</a:t>
            </a:fld>
            <a:endParaRPr lang="en-US" dirty="0"/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F7051476-6496-47BB-803E-31BEBE953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62922"/>
              </p:ext>
            </p:extLst>
          </p:nvPr>
        </p:nvGraphicFramePr>
        <p:xfrm>
          <a:off x="13252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406">
                  <a:extLst>
                    <a:ext uri="{9D8B030D-6E8A-4147-A177-3AD203B41FA5}">
                      <a16:colId xmlns:a16="http://schemas.microsoft.com/office/drawing/2014/main" val="3385663737"/>
                    </a:ext>
                  </a:extLst>
                </a:gridCol>
                <a:gridCol w="3952238">
                  <a:extLst>
                    <a:ext uri="{9D8B030D-6E8A-4147-A177-3AD203B41FA5}">
                      <a16:colId xmlns:a16="http://schemas.microsoft.com/office/drawing/2014/main" val="1753279951"/>
                    </a:ext>
                  </a:extLst>
                </a:gridCol>
                <a:gridCol w="5221356">
                  <a:extLst>
                    <a:ext uri="{9D8B030D-6E8A-4147-A177-3AD203B41FA5}">
                      <a16:colId xmlns:a16="http://schemas.microsoft.com/office/drawing/2014/main" val="3020066562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Semiótica discursiva </a:t>
                      </a:r>
                      <a:endParaRPr lang="pt-br" sz="2400" dirty="0"/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Semiótica Plástica</a:t>
                      </a:r>
                      <a:endParaRPr lang="pt-br" sz="2400" dirty="0"/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Semiótica das Paixões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(Sócio)semiótica ou Semiótica da interação </a:t>
                      </a:r>
                      <a:endParaRPr lang="pt-br" sz="2400" b="1" dirty="0"/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227023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1993</a:t>
                      </a:r>
                    </a:p>
                    <a:p>
                      <a:pPr algn="ctr"/>
                      <a:endParaRPr lang="pt-BR" b="1" dirty="0"/>
                    </a:p>
                    <a:p>
                      <a:pPr algn="ctr"/>
                      <a:endParaRPr lang="pt-BR" b="1"/>
                    </a:p>
                    <a:p>
                      <a:pPr algn="ctr"/>
                      <a:r>
                        <a:rPr lang="pt-BR" b="1"/>
                        <a:t>1987/1989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582309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     Algirdas </a:t>
                      </a:r>
                      <a:r>
                        <a:rPr lang="pt-BR" sz="1800" dirty="0" err="1"/>
                        <a:t>Julien</a:t>
                      </a:r>
                      <a:r>
                        <a:rPr lang="pt-BR" sz="1800" dirty="0"/>
                        <a:t> </a:t>
                      </a:r>
                      <a:r>
                        <a:rPr lang="pt-BR" sz="1800" dirty="0" err="1"/>
                        <a:t>Greimas</a:t>
                      </a:r>
                      <a:r>
                        <a:rPr lang="pt-BR" sz="1800" dirty="0"/>
                        <a:t> (1966)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Jean-Marie </a:t>
                      </a:r>
                      <a:r>
                        <a:rPr lang="pt-BR" dirty="0" err="1"/>
                        <a:t>Floch</a:t>
                      </a:r>
                      <a:r>
                        <a:rPr lang="pt-BR" dirty="0"/>
                        <a:t> (1981)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Algirdas </a:t>
                      </a:r>
                      <a:r>
                        <a:rPr lang="pt-BR" dirty="0" err="1"/>
                        <a:t>Julien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Greimas</a:t>
                      </a:r>
                      <a:r>
                        <a:rPr lang="pt-BR" dirty="0"/>
                        <a:t> &amp; Jacques </a:t>
                      </a:r>
                      <a:r>
                        <a:rPr lang="pt-BR" dirty="0" err="1"/>
                        <a:t>Fontanille</a:t>
                      </a:r>
                      <a:r>
                        <a:rPr lang="pt-BR" dirty="0"/>
                        <a:t> (1993)</a:t>
                      </a:r>
                    </a:p>
                    <a:p>
                      <a:pPr algn="ctr"/>
                      <a:endParaRPr lang="pt-BR" dirty="0"/>
                    </a:p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Eric </a:t>
                      </a:r>
                      <a:r>
                        <a:rPr lang="pt-BR" dirty="0" err="1"/>
                        <a:t>Landowski</a:t>
                      </a:r>
                      <a:r>
                        <a:rPr lang="pt-BR" dirty="0"/>
                        <a:t> (1979-1997)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0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29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796C8-A653-4F68-BCC9-C56B15C7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Semiótica discursiva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362560-7922-481E-839B-E9262AD0C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Foi Algirdas </a:t>
            </a:r>
            <a:r>
              <a:rPr lang="pt-BR" sz="2800" dirty="0" err="1"/>
              <a:t>Julien</a:t>
            </a:r>
            <a:r>
              <a:rPr lang="pt-BR" sz="2800" dirty="0"/>
              <a:t> </a:t>
            </a:r>
            <a:r>
              <a:rPr lang="pt-BR" sz="2800" b="1" dirty="0" err="1"/>
              <a:t>Greimas</a:t>
            </a:r>
            <a:r>
              <a:rPr lang="pt-BR" sz="2800" dirty="0"/>
              <a:t> o responsável por estabelecer os fundamentos da teoria que procura entender e explicar os mecanismos de construção de sentido no texto. A </a:t>
            </a:r>
            <a:r>
              <a:rPr lang="pt-BR" sz="2800" b="1" dirty="0"/>
              <a:t>origem da semiótica </a:t>
            </a:r>
            <a:r>
              <a:rPr lang="pt-BR" sz="2800" b="1" dirty="0" err="1"/>
              <a:t>greimasiana</a:t>
            </a:r>
            <a:r>
              <a:rPr lang="pt-BR" sz="2800" dirty="0"/>
              <a:t> se deu na publicação da obra Semântica Estrutural – pesquisa de método, de </a:t>
            </a:r>
            <a:r>
              <a:rPr lang="pt-BR" sz="2800" b="1" dirty="0" err="1"/>
              <a:t>Greimas</a:t>
            </a:r>
            <a:r>
              <a:rPr lang="pt-BR" sz="2800" dirty="0"/>
              <a:t>, em 1966.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B440DD-1556-43D5-96A2-D489D72F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7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DFE67-2680-4643-B9AE-061D55E5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Semiótica plástica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B9A210-B6F1-4729-A870-584B610FD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8" y="2372138"/>
            <a:ext cx="11199990" cy="3603211"/>
          </a:xfrm>
        </p:spPr>
        <p:txBody>
          <a:bodyPr>
            <a:normAutofit/>
          </a:bodyPr>
          <a:lstStyle/>
          <a:p>
            <a:pPr algn="just"/>
            <a:r>
              <a:rPr lang="fr-FR" sz="2800" dirty="0"/>
              <a:t>FLOCH, Jean-Marie. </a:t>
            </a:r>
            <a:r>
              <a:rPr lang="fr-FR" sz="2800" b="1" dirty="0"/>
              <a:t>Semiótica plástica e linguagem publicitária: análise de um anúncio da campanha de </a:t>
            </a:r>
            <a:r>
              <a:rPr lang="fr-FR" sz="2800" dirty="0"/>
              <a:t>lançamento do cigarro News. Paris, Groupe de recherches sémio-linguistiques, 1981</a:t>
            </a:r>
            <a:endParaRPr lang="pt-BR" sz="28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DE8170-4057-4720-BEBB-A4CE8879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9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1828F-2633-4152-A6F4-07D24AAE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Semiótica das paixões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C7BCAC-C3A3-469D-954C-D72C35CA3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GREIMAS, Algirdas </a:t>
            </a:r>
            <a:r>
              <a:rPr lang="pt-BR" sz="2800" dirty="0" err="1"/>
              <a:t>Julien</a:t>
            </a:r>
            <a:r>
              <a:rPr lang="pt-BR" sz="2800" dirty="0"/>
              <a:t>; FONTANILLE, Jacques</a:t>
            </a:r>
            <a:r>
              <a:rPr lang="pt-BR" sz="2800" b="1" dirty="0"/>
              <a:t>. Semiótica das paixões</a:t>
            </a:r>
            <a:r>
              <a:rPr lang="pt-BR" sz="2800" dirty="0"/>
              <a:t>. Dos estados de coisas aos estados de alma. São Paulo: Ática, 1993.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B3A5CD-487E-48F8-8CD7-384322AA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65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18FD5-7882-470F-A0CA-82D502F2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Da Semiótica discursiva à Semiótica das paixões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CC5C6A-A65E-4A8E-AF73-ABC3B869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61" y="2146852"/>
            <a:ext cx="11239747" cy="4399722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Em sua origem, anos sessenta e início dos anos setenta, limita-se à análise estrutural da narrativa (sintaxe da ação). Seus estudos restringem-se, dessa forma, ao percurso da </a:t>
            </a:r>
            <a:r>
              <a:rPr lang="pt-BR" sz="2400" b="1" i="1" dirty="0">
                <a:solidFill>
                  <a:schemeClr val="tx1"/>
                </a:solidFill>
              </a:rPr>
              <a:t>ação dos sujeitos</a:t>
            </a:r>
            <a:r>
              <a:rPr lang="pt-BR" sz="2400" dirty="0">
                <a:solidFill>
                  <a:schemeClr val="tx1"/>
                </a:solidFill>
              </a:rPr>
              <a:t>. Em segunda fase, a Semiótica preocupa-se com os </a:t>
            </a:r>
            <a:r>
              <a:rPr lang="pt-BR" sz="2400" b="1" i="1" dirty="0">
                <a:solidFill>
                  <a:schemeClr val="tx1"/>
                </a:solidFill>
              </a:rPr>
              <a:t>programas narrativos </a:t>
            </a:r>
            <a:r>
              <a:rPr lang="pt-BR" sz="2400" dirty="0">
                <a:solidFill>
                  <a:schemeClr val="tx1"/>
                </a:solidFill>
              </a:rPr>
              <a:t>que modalizam o sujeito para a ação (modalização do fazer). Em sua terceira fase, a Semiótica volta seus olhos para o tipo de relação que o </a:t>
            </a:r>
            <a:r>
              <a:rPr lang="pt-BR" sz="2400" b="1" i="1" dirty="0">
                <a:solidFill>
                  <a:schemeClr val="tx1"/>
                </a:solidFill>
              </a:rPr>
              <a:t>sujeito mantém com o objeto</a:t>
            </a:r>
            <a:r>
              <a:rPr lang="pt-BR" sz="2400" dirty="0">
                <a:solidFill>
                  <a:schemeClr val="tx1"/>
                </a:solidFill>
              </a:rPr>
              <a:t>. Com isso, ela se debruça sobre a existência modal do sujeito (modalização do ser). A quarta fase acontece quando a Semiótica percebe que, a partir dos valores investidos pelo sujeito no objeto, se pode determinar certos estados de alma: </a:t>
            </a:r>
            <a:r>
              <a:rPr lang="pt-BR" sz="2400" b="1" i="1" dirty="0">
                <a:solidFill>
                  <a:schemeClr val="tx1"/>
                </a:solidFill>
              </a:rPr>
              <a:t>é quando nascem os estudos sobre as paixões</a:t>
            </a:r>
            <a:r>
              <a:rPr lang="pt-BR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685DAB-DDBC-4FDA-A291-AAFE105C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1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3627E-C30E-4173-ADC4-517070E9B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06076"/>
          </a:xfrm>
        </p:spPr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DFB149-76F1-48A0-AC51-BBDBD3B96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2173357"/>
            <a:ext cx="11410121" cy="4250557"/>
          </a:xfrm>
        </p:spPr>
        <p:txBody>
          <a:bodyPr>
            <a:normAutofit fontScale="92500" lnSpcReduction="10000"/>
          </a:bodyPr>
          <a:lstStyle/>
          <a:p>
            <a:r>
              <a:rPr lang="pt-PT" sz="2400" cap="small" dirty="0"/>
              <a:t>BARROS</a:t>
            </a:r>
            <a:r>
              <a:rPr lang="pt-PT" sz="2400" i="1" dirty="0"/>
              <a:t>, </a:t>
            </a:r>
            <a:r>
              <a:rPr lang="pt-PT" sz="2400" dirty="0"/>
              <a:t>Diana Luz P</a:t>
            </a:r>
            <a:r>
              <a:rPr lang="pt-PT" sz="2400" i="1" dirty="0"/>
              <a:t>.</a:t>
            </a:r>
            <a:r>
              <a:rPr lang="pt-PT" sz="2400" b="1" dirty="0"/>
              <a:t>Teoria do discurso </a:t>
            </a:r>
            <a:r>
              <a:rPr lang="pt-PT" sz="2400" dirty="0"/>
              <a:t>– fundamentos semióticos</a:t>
            </a:r>
            <a:r>
              <a:rPr lang="pt-PT" sz="2400" b="1" i="1" dirty="0"/>
              <a:t>. </a:t>
            </a:r>
            <a:r>
              <a:rPr lang="pt-PT" sz="2400" dirty="0"/>
              <a:t>São Paulo: Humanitas, 2002.</a:t>
            </a:r>
            <a:endParaRPr lang="pt-BR" sz="2400" dirty="0"/>
          </a:p>
          <a:p>
            <a:r>
              <a:rPr lang="pt-PT" sz="2400" dirty="0"/>
              <a:t>_____</a:t>
            </a:r>
            <a:r>
              <a:rPr lang="pt-PT" sz="2400" cap="small" dirty="0"/>
              <a:t>, D</a:t>
            </a:r>
            <a:r>
              <a:rPr lang="pt-PT" sz="2400" dirty="0"/>
              <a:t>iana Luz P. </a:t>
            </a:r>
            <a:r>
              <a:rPr lang="pt-PT" sz="2400" b="1" dirty="0"/>
              <a:t>Teoria semiótica do texto.</a:t>
            </a:r>
            <a:r>
              <a:rPr lang="pt-PT" sz="2400" dirty="0"/>
              <a:t>São Paulo: Ática, 2005.</a:t>
            </a:r>
            <a:endParaRPr lang="pt-BR" sz="2400" dirty="0"/>
          </a:p>
          <a:p>
            <a:r>
              <a:rPr lang="pt-BR" sz="2400" dirty="0"/>
              <a:t>FIORIN, José Luiz. As astúcias da enunciação. São Paulo: Ática, 1999.</a:t>
            </a:r>
            <a:br>
              <a:rPr lang="pt-BR" sz="2400" dirty="0"/>
            </a:br>
            <a:r>
              <a:rPr lang="fr-FR" sz="2400" dirty="0"/>
              <a:t>GREIMAS &amp; COURTÉS, Joseph (1979). </a:t>
            </a:r>
            <a:r>
              <a:rPr lang="pt-BR" sz="2400" b="1" dirty="0"/>
              <a:t>Dicionário de semiótica</a:t>
            </a:r>
            <a:r>
              <a:rPr lang="pt-BR" sz="2400" i="1" dirty="0"/>
              <a:t>.</a:t>
            </a:r>
            <a:r>
              <a:rPr lang="pt-BR" sz="2400" dirty="0"/>
              <a:t> São Paulo: </a:t>
            </a:r>
            <a:r>
              <a:rPr lang="pt-BR" sz="2400" dirty="0" err="1"/>
              <a:t>Cultrix</a:t>
            </a:r>
            <a:r>
              <a:rPr lang="pt-BR" sz="2400" dirty="0"/>
              <a:t>, 1983. </a:t>
            </a:r>
          </a:p>
          <a:p>
            <a:r>
              <a:rPr lang="pt-BR" sz="2400" dirty="0"/>
              <a:t>GREIMAS, A. J.; FONTANILLE, J. </a:t>
            </a:r>
            <a:r>
              <a:rPr lang="pt-BR" sz="2400" b="1" dirty="0"/>
              <a:t>Semiótica das paixões</a:t>
            </a:r>
            <a:r>
              <a:rPr lang="pt-BR" sz="2400" dirty="0"/>
              <a:t>. São Paulo: Ática, 1993.   </a:t>
            </a:r>
          </a:p>
          <a:p>
            <a:r>
              <a:rPr lang="pt-BR" sz="2400" dirty="0"/>
              <a:t>BARROS, Diana Luz Pessoa. </a:t>
            </a:r>
            <a:r>
              <a:rPr lang="pt-BR" sz="2400" b="1" dirty="0"/>
              <a:t>O discurso intolerante na internet</a:t>
            </a:r>
            <a:r>
              <a:rPr lang="pt-BR" sz="2400" dirty="0"/>
              <a:t>: </a:t>
            </a:r>
            <a:r>
              <a:rPr lang="pt-BR" sz="2200" dirty="0"/>
              <a:t>enunciação e interação. </a:t>
            </a:r>
            <a:r>
              <a:rPr lang="es-ES" sz="2200" i="1" dirty="0"/>
              <a:t>XVII CONGRESO INTERNACIONAL ASOCIACIÓN DE LINGUÍSTICA Y FILOLOGÍA DE AMÉRICA LATINA (ALFAL 2014) </a:t>
            </a:r>
            <a:r>
              <a:rPr lang="pt-BR" sz="2200" i="1" dirty="0"/>
              <a:t>João Pessoa - Paraíba, Brasil</a:t>
            </a:r>
            <a:r>
              <a:rPr lang="pt-BR" sz="2200" dirty="0"/>
              <a:t> </a:t>
            </a:r>
            <a:r>
              <a:rPr lang="pt-BR" sz="2400" dirty="0"/>
              <a:t>Disponível em: </a:t>
            </a:r>
            <a:r>
              <a:rPr lang="pt-BR" sz="2400" dirty="0">
                <a:hlinkClick r:id="rId2"/>
              </a:rPr>
              <a:t>https://www.mundoalfal.org/</a:t>
            </a:r>
            <a:r>
              <a:rPr lang="pt-BR" sz="2400" dirty="0" err="1">
                <a:hlinkClick r:id="rId2"/>
              </a:rPr>
              <a:t>CDAnaisXVII</a:t>
            </a:r>
            <a:r>
              <a:rPr lang="pt-BR" sz="2400" dirty="0">
                <a:hlinkClick r:id="rId2"/>
              </a:rPr>
              <a:t>/trabalhos/R0716-1.pdf</a:t>
            </a:r>
            <a:r>
              <a:rPr lang="pt-BR" sz="2400" dirty="0"/>
              <a:t>. Acesso em: 10.fev.2018.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427F50-1044-4A82-A494-E1EC8C3A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866A0C-EEE8-4DE1-9ECF-51EC9C0B8BE2}" type="datetime1">
              <a:rPr lang="pt-BR" smtClean="0"/>
              <a:t>19/03/2024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52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3_TF33552983" id="{3F923CBD-04A0-41B3-B873-EF426160762E}" vid="{54083136-2BEC-4495-B8B7-3CA1817B37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3C40DECEFF3F45A840C4F2307671DD" ma:contentTypeVersion="4" ma:contentTypeDescription="Crie um novo documento." ma:contentTypeScope="" ma:versionID="f3e6868b679a5182e87584b4d9b22894">
  <xsd:schema xmlns:xsd="http://www.w3.org/2001/XMLSchema" xmlns:xs="http://www.w3.org/2001/XMLSchema" xmlns:p="http://schemas.microsoft.com/office/2006/metadata/properties" xmlns:ns2="10b25494-9aa1-4c2e-bcaa-7b80fd6d7c79" targetNamespace="http://schemas.microsoft.com/office/2006/metadata/properties" ma:root="true" ma:fieldsID="47ee1ae61a86c6f1d5fb3db72b4151d4" ns2:_="">
    <xsd:import namespace="10b25494-9aa1-4c2e-bcaa-7b80fd6d7c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b25494-9aa1-4c2e-bcaa-7b80fd6d7c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E3EAAB-97FF-4C53-A68C-1FE341D41B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b25494-9aa1-4c2e-bcaa-7b80fd6d7c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929A9F-48C2-43E2-A03B-705D5DA9DB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5694B7-0215-4013-96A0-E703D5B00F7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{B9C1FA1C-FAB3-4488-B36B-71EDCF2F52FF}tf33552983</Template>
  <TotalTime>0</TotalTime>
  <Words>484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Calibri</vt:lpstr>
      <vt:lpstr>Franklin Gothic Book</vt:lpstr>
      <vt:lpstr>Franklin Gothic Demi</vt:lpstr>
      <vt:lpstr>Wingdings 2</vt:lpstr>
      <vt:lpstr>DividendVTI</vt:lpstr>
      <vt:lpstr>Semiótica: estudo</vt:lpstr>
      <vt:lpstr>Apresentação do PowerPoint</vt:lpstr>
      <vt:lpstr>Semiótica discursiva</vt:lpstr>
      <vt:lpstr>Semiótica plástica</vt:lpstr>
      <vt:lpstr>Semiótica das paixões</vt:lpstr>
      <vt:lpstr>Da Semiótica discursiva à Semiótica das paixões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Semiótica: estudo</dc:title>
  <dc:creator/>
  <cp:lastModifiedBy/>
  <cp:revision>2</cp:revision>
  <dcterms:created xsi:type="dcterms:W3CDTF">2020-06-07T23:50:15Z</dcterms:created>
  <dcterms:modified xsi:type="dcterms:W3CDTF">2024-03-20T00:40:04Z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0x010100443C40DECEFF3F45A840C4F2307671DD</vt:lpwstr>
  </property>
</Properties>
</file>