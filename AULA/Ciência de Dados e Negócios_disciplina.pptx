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98" r:id="rId5"/>
    <p:sldId id="302" r:id="rId6"/>
    <p:sldId id="301" r:id="rId7"/>
    <p:sldId id="367" r:id="rId8"/>
    <p:sldId id="261" r:id="rId9"/>
    <p:sldId id="300" r:id="rId10"/>
    <p:sldId id="303" r:id="rId11"/>
    <p:sldId id="368" r:id="rId12"/>
    <p:sldId id="371" r:id="rId13"/>
    <p:sldId id="372" r:id="rId14"/>
    <p:sldId id="369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2CF2B-E82F-4152-ADD2-ED47E5A676F4}" type="datetimeFigureOut">
              <a:rPr lang="pt-BR" smtClean="0"/>
              <a:t>19/03/2024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E9163-63CE-4B6F-8106-3CB82B73A73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8664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9FF0D-B331-4276-BF84-39B369306F99}" type="datetimeFigureOut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564A1-17BF-464F-B2FE-65DA37285BF0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172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2D2D-6B01-4920-4D5F-F656DDFE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543985-B129-45F2-2D9A-AF7BE02B5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B5A580-DAE8-C6A9-4BDC-74B9D813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3D22F8-84F1-BD89-2C9E-7A8F6583E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7199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814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5FDB2-C9CE-0241-3E88-8D7E799B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10B1C4-9EDE-A947-BE6E-B62A6AC8D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B0B68-7FC0-BF51-E7AF-3E6F9E278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C26774-0B96-086C-27B2-F855F229C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633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4E8571-58AC-4B02-A72C-B7E3E60A7BA5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C2D5DC-E9E6-4460-9005-9561D7AE5062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616C38-4A2F-4C3B-B502-7E51C7F0342F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B7CE7-B188-4FE4-8B6E-3889DBBDC355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932F7F-8399-49FC-B033-AD7A4B77F998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506B10-4878-49BC-96DE-C536CADA3095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0B6ED2-E191-4517-BA6B-37A4CEFA3A0D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DB650E8-F74D-4BD3-A6BC-1B4D756C4BE8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B56C06F-C179-4D6D-A0AC-A9C8705BD208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72B881A2-478D-4079-BD8F-044C479AA962}" type="datetime1">
              <a:rPr lang="pt-BR" noProof="0" smtClean="0"/>
              <a:t>19/03/2024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FFD6-461C-BBE1-191F-BA08DDD6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magem Ampliada de um pedaço de papel com um lápis sobre este">
            <a:extLst>
              <a:ext uri="{FF2B5EF4-FFF2-40B4-BE49-F238E27FC236}">
                <a16:creationId xmlns:a16="http://schemas.microsoft.com/office/drawing/2014/main" id="{F89425AF-FE13-18B1-9C72-03BB1E1026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E33BF63-EB63-BC78-0D86-C2C9E60A8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768" y="1475234"/>
            <a:ext cx="4899546" cy="2387082"/>
          </a:xfrm>
        </p:spPr>
        <p:txBody>
          <a:bodyPr rtlCol="0" anchor="b">
            <a:normAutofit/>
          </a:bodyPr>
          <a:lstStyle/>
          <a:p>
            <a:pPr algn="ctr"/>
            <a:r>
              <a:rPr lang="pt-BR" sz="3600" b="1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PRODUÇÃO DE TEXTOS E METODOLOGIA CIENTÍFICA/TECNOLÓGICA</a:t>
            </a:r>
            <a:endParaRPr lang="pt-BR" sz="3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5EC116-742C-892D-9E5F-3F6AA49CE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49" y="4258101"/>
            <a:ext cx="3472847" cy="1869744"/>
          </a:xfrm>
        </p:spPr>
        <p:txBody>
          <a:bodyPr rtlCol="0" anchor="t">
            <a:noAutofit/>
          </a:bodyPr>
          <a:lstStyle/>
          <a:p>
            <a:pPr algn="ctr" rtl="0">
              <a:lnSpc>
                <a:spcPct val="100000"/>
              </a:lnSpc>
            </a:pPr>
            <a:r>
              <a:rPr lang="pt-BR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Ciência de Dados e Negócios  </a:t>
            </a:r>
          </a:p>
          <a:p>
            <a:pPr algn="ctr" rtl="0">
              <a:lnSpc>
                <a:spcPct val="100000"/>
              </a:lnSpc>
            </a:pPr>
            <a:r>
              <a:rPr lang="pt-BR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Fatec Votorantim </a:t>
            </a:r>
          </a:p>
          <a:p>
            <a:pPr algn="ctr" rtl="0">
              <a:lnSpc>
                <a:spcPct val="100000"/>
              </a:lnSpc>
            </a:pPr>
            <a:r>
              <a:rPr lang="pt-BR" sz="1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Profa. Rosana Helena nunes</a:t>
            </a:r>
          </a:p>
        </p:txBody>
      </p:sp>
    </p:spTree>
    <p:extLst>
      <p:ext uri="{BB962C8B-B14F-4D97-AF65-F5344CB8AC3E}">
        <p14:creationId xmlns:p14="http://schemas.microsoft.com/office/powerpoint/2010/main" val="97834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A46B2-AD60-BF4D-AFFC-1AD3D9B8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7546"/>
            <a:ext cx="10058400" cy="1409814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3200" b="1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r>
              <a:rPr lang="pt-BR" sz="4000" b="1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Competências (profissionais e socioemocionais) </a:t>
            </a:r>
            <a:br>
              <a:rPr lang="pt-BR" sz="36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endParaRPr lang="pt-BR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DF834-F727-12D4-AF1A-9C78FF12D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1631"/>
            <a:ext cx="10058400" cy="3917462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1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pt-BR" sz="28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Compreender textos científicos e suas partes. </a:t>
            </a:r>
            <a:endParaRPr lang="pt-BR" sz="28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marL="514350" indent="-514350" algn="just">
              <a:lnSpc>
                <a:spcPct val="11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pt-BR" sz="28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Elaborar relatórios acadêmicos-científicos na área de Ciência de Dados.</a:t>
            </a:r>
            <a:endParaRPr lang="pt-BR" sz="28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marL="514350" indent="-514350" algn="just">
              <a:lnSpc>
                <a:spcPct val="11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pt-BR" sz="28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Comunicar-se tanto na língua materna como em língua estrangeira. </a:t>
            </a:r>
            <a:endParaRPr lang="pt-BR" sz="28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marL="514350" indent="-514350" algn="just">
              <a:lnSpc>
                <a:spcPct val="11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pt-BR" sz="28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Evidenciar o uso de pensamento crítico em situações adversas. </a:t>
            </a:r>
            <a:endParaRPr lang="pt-BR" sz="28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372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BD25-A610-173C-B173-460A83F5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7F315-D40C-A95B-185C-E5E03275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b="1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DISCIPLINA: PRODUÇÃO DE TEXTOS E METODOLOGIA CIENTÍFICA/TECNOLÓGICA </a:t>
            </a:r>
            <a:r>
              <a:rPr lang="pt-B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4A8C92-7C4D-4589-5AB8-E776C5BF6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sz="1800" kern="100" dirty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Introdução à escrita acadêmica: Características e requisitos da escrita acadêmica. Gêneros textuais utilizados na área de ciência de dados. Estruturação de textos acadêmicos: introdução, desenvolvimento e conclusão. Coesão, coerência e argumentação nos textos acadêmicos. Normas de formatação e citação: Normas e padrões de formatação de trabalhos acadêmicos. Técnicas de citação e referência bibliográfica. Uso de ferramentas de gerenciamento de referências. Metodologia científica: Conceitos básicos de pesquisa científica. Etapas do método científico: formulação de problemas, revisão bibliográfica, coleta e análise de dados, interpretação dos resultados e conclusões. Elaboração de hipóteses e objetivos de pesquisa. Seleção e aplicação de técnicas de pesquisa. Pesquisa bibliográfica e documental: Técnicas de busca em bases de dados acadêmicas e outras fontes relevantes. Avaliação da confiabilidade e relevância das fontes de pesquisa. Organização e análise de dados obtidos por meio da pesquisa bibliográfica e documental. Comunicação científica: Preparação e elaboração de apresentações orais e escritas de trabalhos científicos. Utilização de recursos audiovisuais para a apresentação de resultados. Elaboração de relatórios, artigos e outros documentos técnicos.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874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2610" y="1444487"/>
            <a:ext cx="10515600" cy="3813885"/>
          </a:xfrm>
        </p:spPr>
        <p:txBody>
          <a:bodyPr/>
          <a:lstStyle/>
          <a:p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Rolagem: Horizontal 7">
            <a:extLst>
              <a:ext uri="{FF2B5EF4-FFF2-40B4-BE49-F238E27FC236}">
                <a16:creationId xmlns:a16="http://schemas.microsoft.com/office/drawing/2014/main" id="{D3153108-76B2-4EE3-AF0C-9B4DDEDC5E4F}"/>
              </a:ext>
            </a:extLst>
          </p:cNvPr>
          <p:cNvSpPr/>
          <p:nvPr/>
        </p:nvSpPr>
        <p:spPr>
          <a:xfrm>
            <a:off x="504967" y="232012"/>
            <a:ext cx="11209955" cy="5956753"/>
          </a:xfrm>
          <a:prstGeom prst="horizontalScroll">
            <a:avLst>
              <a:gd name="adj" fmla="val 11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2600" dirty="0">
              <a:latin typeface="+mj-lt"/>
              <a:cs typeface="Arial" panose="020B0604020202020204" pitchFamily="34" charset="0"/>
            </a:endParaRPr>
          </a:p>
          <a:p>
            <a:pPr algn="just"/>
            <a:endParaRPr lang="pt-BR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endParaRPr lang="pt-BR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r>
              <a:rPr lang="pt-BR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Objetivos da disciplina</a:t>
            </a:r>
          </a:p>
          <a:p>
            <a:pPr algn="just"/>
            <a:r>
              <a:rPr lang="pt-BR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Identificar os elementos estruturais dos gêneros acadêmicos, como introdução, desenvolvimento e conclusão</a:t>
            </a:r>
            <a:r>
              <a:rPr lang="pt-B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Reconhecer as características de coesão, coerência e argumentação presentes nos textos acadêmicos.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Elaborar corretamente a introdução, a justificativa, os objetivos e as hipóteses de um trabalho científico.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Utilizar corretamente as normas de referência e citação, seguindo as diretrizes de um estilo de formatação específico.</a:t>
            </a:r>
            <a:endParaRPr lang="pt-BR" sz="2000" kern="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0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Preparar e realizar apresentações orais claras e objetivas, utilizando recursos audiovisuais adequados. Elaborar relatórios, artigos e outros documentos técnicos de forma precisa e coerente.</a:t>
            </a:r>
            <a:endParaRPr lang="pt-BR" sz="2000" kern="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pt-BR" sz="2600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pt-BR" sz="26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28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7F9B-793D-229C-4871-80E59E1E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5B05C0-DB46-F67F-2F61-82583BBA6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14" y="1683027"/>
            <a:ext cx="11357112" cy="48098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2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pt-BR" sz="22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6" name="Fluxograma: Fita Perfurada 5">
            <a:extLst>
              <a:ext uri="{FF2B5EF4-FFF2-40B4-BE49-F238E27FC236}">
                <a16:creationId xmlns:a16="http://schemas.microsoft.com/office/drawing/2014/main" id="{128CDDC0-5E64-16B0-7E41-B0626FB23DEB}"/>
              </a:ext>
            </a:extLst>
          </p:cNvPr>
          <p:cNvSpPr/>
          <p:nvPr/>
        </p:nvSpPr>
        <p:spPr>
          <a:xfrm>
            <a:off x="1603513" y="218364"/>
            <a:ext cx="8958470" cy="941697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Plano de ensino: aulas do semestre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6A788C8-8648-A97C-7B96-2F1CD33F4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20222"/>
              </p:ext>
            </p:extLst>
          </p:nvPr>
        </p:nvGraphicFramePr>
        <p:xfrm>
          <a:off x="272956" y="1378225"/>
          <a:ext cx="11682485" cy="4926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497">
                  <a:extLst>
                    <a:ext uri="{9D8B030D-6E8A-4147-A177-3AD203B41FA5}">
                      <a16:colId xmlns:a16="http://schemas.microsoft.com/office/drawing/2014/main" val="3721598635"/>
                    </a:ext>
                  </a:extLst>
                </a:gridCol>
                <a:gridCol w="2336497">
                  <a:extLst>
                    <a:ext uri="{9D8B030D-6E8A-4147-A177-3AD203B41FA5}">
                      <a16:colId xmlns:a16="http://schemas.microsoft.com/office/drawing/2014/main" val="1229612578"/>
                    </a:ext>
                  </a:extLst>
                </a:gridCol>
                <a:gridCol w="2336497">
                  <a:extLst>
                    <a:ext uri="{9D8B030D-6E8A-4147-A177-3AD203B41FA5}">
                      <a16:colId xmlns:a16="http://schemas.microsoft.com/office/drawing/2014/main" val="1223366243"/>
                    </a:ext>
                  </a:extLst>
                </a:gridCol>
                <a:gridCol w="2336497">
                  <a:extLst>
                    <a:ext uri="{9D8B030D-6E8A-4147-A177-3AD203B41FA5}">
                      <a16:colId xmlns:a16="http://schemas.microsoft.com/office/drawing/2014/main" val="2215282089"/>
                    </a:ext>
                  </a:extLst>
                </a:gridCol>
                <a:gridCol w="2336497">
                  <a:extLst>
                    <a:ext uri="{9D8B030D-6E8A-4147-A177-3AD203B41FA5}">
                      <a16:colId xmlns:a16="http://schemas.microsoft.com/office/drawing/2014/main" val="4101414950"/>
                    </a:ext>
                  </a:extLst>
                </a:gridCol>
              </a:tblGrid>
              <a:tr h="61526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Semanas 1, 2, 3, 4,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Semanas: 6, 7, 8,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Semanas: 10, 11,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Semanas: 13, 14, 15,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Semanas: 17, 18, 19,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49810"/>
                  </a:ext>
                </a:extLst>
              </a:tr>
              <a:tr h="1142635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Noção de texto e introdução aos conceitos de Semiótica Discursiva.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Estrutura acadêmica: introdução, desenvolvimento e conclusão (2ª etapa).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Estudo de gêneros acadêmicos.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Retomada dos estudos para a avaliação escrita individual.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Geração de Dados: avaliação da qualidade e relevância (Projeto Integrador - 6ª etapa).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470924"/>
                  </a:ext>
                </a:extLst>
              </a:tr>
              <a:tr h="954656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Gêneros acadêmicos: introdução à escrita acadêmica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Entrega do 2º texto (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pitch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- Projeto Integrador).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Gêneros acadêmicos: resenha crítica e relatório.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Avaliação escrita individual: interpretação de texto.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Gênero acadêmico oral: normas de comunicação científica.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39468"/>
                  </a:ext>
                </a:extLst>
              </a:tr>
              <a:tr h="1142635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Estruturação de textos acadêmicos (1ª etapa).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Coesão, coerência e argumentação: características de textos acadêmicos.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Gestão do Projeto: elaboração de relatório acadêmico (4ª etapa). 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Organização e análise de dados: 5ª etapa </a:t>
                      </a:r>
                      <a:r>
                        <a:rPr lang="pt-B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(Projeto Integrador).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Apresentação oral do projeto final: elaboração de seminário (7ª etapa). 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231038"/>
                  </a:ext>
                </a:extLst>
              </a:tr>
              <a:tr h="954656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Entrega do 1º texto: definição da empresa. 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Canvas (BMC): entrega do texto (3ª etapa).  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Entrega do 4º texto (Projeto Integrador).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Metodologia científica: conceitos norteadores de pesquisa científica. 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Entrega do texto final e fechamento do semestre.</a:t>
                      </a:r>
                      <a:endParaRPr lang="pt-BR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049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77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014" y="232012"/>
            <a:ext cx="9444253" cy="1050879"/>
          </a:xfr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br>
              <a:rPr lang="pt-BR" sz="28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br>
              <a:rPr lang="pt-BR" sz="28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br>
              <a:rPr lang="pt-BR" sz="28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r>
              <a:rPr lang="pt-BR" sz="24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Projeto Integrador I:</a:t>
            </a:r>
            <a:br>
              <a:rPr lang="pt-BR" sz="24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r>
              <a:rPr lang="pt-BR" sz="24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fases de desenvolvimento</a:t>
            </a:r>
            <a:endParaRPr lang="pt-BR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669001"/>
              </p:ext>
            </p:extLst>
          </p:nvPr>
        </p:nvGraphicFramePr>
        <p:xfrm>
          <a:off x="559558" y="1405719"/>
          <a:ext cx="11300348" cy="5536648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825087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825087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825087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825087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1498140">
                <a:tc>
                  <a:txBody>
                    <a:bodyPr/>
                    <a:lstStyle/>
                    <a:p>
                      <a:pPr algn="ctr" rtl="0"/>
                      <a:r>
                        <a:rPr lang="pt-BR" sz="2000" b="1" i="0" u="none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1: Escolha da Empresa</a:t>
                      </a:r>
                    </a:p>
                    <a:p>
                      <a:pPr algn="ctr" rtl="0"/>
                      <a:r>
                        <a:rPr lang="pt-BR" sz="2000" b="1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Semana 4</a:t>
                      </a:r>
                      <a:endParaRPr lang="pt-BR" sz="2000" b="0" i="0" u="none" cap="all" spc="150" noProof="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2: </a:t>
                      </a:r>
                      <a:r>
                        <a:rPr lang="pt-BR" sz="2000" b="1" kern="120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Pitch</a:t>
                      </a: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- Semana 7</a:t>
                      </a:r>
                    </a:p>
                    <a:p>
                      <a:pPr rtl="0"/>
                      <a:endParaRPr lang="pt-BR" sz="2000" b="0" cap="all" spc="150" noProof="0" dirty="0">
                        <a:solidFill>
                          <a:schemeClr val="lt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3: BMC (Business Model Canvas) - Semana 9</a:t>
                      </a:r>
                    </a:p>
                    <a:p>
                      <a:pPr rtl="0"/>
                      <a:endParaRPr lang="pt-BR" sz="2000" b="0" cap="all" spc="150" noProof="0" dirty="0">
                        <a:solidFill>
                          <a:schemeClr val="lt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4: Gestão do Projeto - Semana 12</a:t>
                      </a:r>
                    </a:p>
                    <a:p>
                      <a:pPr rtl="0"/>
                      <a:endParaRPr lang="pt-BR" sz="2400" b="0" cap="all" spc="150" noProof="0" dirty="0">
                        <a:solidFill>
                          <a:schemeClr val="lt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2938887">
                <a:tc>
                  <a:txBody>
                    <a:bodyPr/>
                    <a:lstStyle/>
                    <a:p>
                      <a:pPr algn="just" rtl="0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Elaborar um texto claro e objetivo descrevendo a empresa selecionada ou fictícia, suas características, objetivos e relevância para o estudo</a:t>
                      </a:r>
                      <a:endParaRPr lang="pt-BR" sz="1400" cap="none" spc="0" noProof="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Preparar um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pitch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estruturado, com introdução que contextualize a empresa, desenvolvimento que destaque sua proposta de valor e conclusão que reforce os principais pontos apresentados.</a:t>
                      </a:r>
                    </a:p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Redigir um texto coeso e argumentativo explicando cada bloco do BMC, destacando a lógica por trás das decisões tomadas e a relação entre os elementos do modelo de negócios.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Preparar um relatório detalhado do plano de projeto, incluindo uma introdução que apresente o contexto, o desenvolvimento que descreva as etapas planejadas e a conclusão que resuma os principais pontos e desafios identificados.</a:t>
                      </a:r>
                    </a:p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  <a:tr h="507627"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28359"/>
                  </a:ext>
                </a:extLst>
              </a:tr>
              <a:tr h="507627"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14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3B75D-967F-22B9-50D3-E96D740B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8E642-D430-8345-1204-37827276F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014" y="232012"/>
            <a:ext cx="9444253" cy="1050879"/>
          </a:xfr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br>
              <a:rPr lang="pt-BR" sz="28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br>
              <a:rPr lang="pt-BR" sz="28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br>
              <a:rPr lang="pt-BR" sz="28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r>
              <a:rPr lang="pt-BR" sz="24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Projeto Integrador I:</a:t>
            </a:r>
            <a:br>
              <a:rPr lang="pt-BR" sz="24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</a:br>
            <a:r>
              <a:rPr lang="pt-BR" sz="2400" b="1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fases de desenvolvimento</a:t>
            </a:r>
            <a:endParaRPr lang="pt-BR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4772A3BF-AA4D-F510-DE8A-BA9E4E138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860770"/>
              </p:ext>
            </p:extLst>
          </p:nvPr>
        </p:nvGraphicFramePr>
        <p:xfrm>
          <a:off x="504966" y="1405719"/>
          <a:ext cx="11177516" cy="5487472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794379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794379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794379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794379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14094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5: ERP (Enterprise Resource Planning)  Semana 15</a:t>
                      </a:r>
                      <a:endParaRPr lang="pt-BR" sz="1800" b="1" kern="120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rtl="0"/>
                      <a:endParaRPr lang="pt-BR" sz="2000" b="0" i="0" u="none" cap="all" spc="150" noProof="0" dirty="0">
                        <a:solidFill>
                          <a:schemeClr val="lt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6: Geração de Dados  Semana 17</a:t>
                      </a:r>
                    </a:p>
                    <a:p>
                      <a:pPr rtl="0"/>
                      <a:endParaRPr lang="pt-BR" sz="2000" b="0" cap="all" spc="150" noProof="0" dirty="0">
                        <a:solidFill>
                          <a:schemeClr val="lt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7: Apresentação do Projeto Final - Semana 19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0" cap="all" spc="150" noProof="0" dirty="0">
                        <a:solidFill>
                          <a:schemeClr val="lt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Fase 7: Apresentação do Projeto Final - Semana 19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0" cap="all" spc="150" noProof="0" dirty="0">
                        <a:solidFill>
                          <a:schemeClr val="lt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302662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Coletar os dados gerados pela simulação do ERP, realizar uma análise crítica e interpretar os resultados à luz do contexto do projeto.</a:t>
                      </a:r>
                    </a:p>
                    <a:p>
                      <a:pPr algn="just" rtl="0"/>
                      <a:endParaRPr lang="pt-BR" sz="1400" cap="none" spc="0" noProof="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Avaliar a qualidade e relevância dos dados gerados pelo ERP, identificar possíveis limitações e fazer sugestões para aprimoramento da coleta e análise de dados.</a:t>
                      </a:r>
                    </a:p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Preparar uma apresentação, concisa e bem estruturada, seguindo as normas de comunicação científica.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kern="1200" cap="all" spc="150" noProof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</a:t>
                      </a:r>
                      <a:endParaRPr lang="pt-BR" sz="1600" b="0" cap="all" spc="150" noProof="0" dirty="0">
                        <a:solidFill>
                          <a:schemeClr val="lt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400" cap="none" spc="0" noProof="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Demonstrar como a colaboração entre os membros da equipe contribuiu para o sucesso do projeto.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Destacar as habilidades de comunicação e negociação utilizadas dados os desafios encontrados.</a:t>
                      </a:r>
                    </a:p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  <a:tr h="508110"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28359"/>
                  </a:ext>
                </a:extLst>
              </a:tr>
              <a:tr h="508110"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pt-BR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14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40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2B44-15DE-C6FA-0A77-7423D04B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35EC7C-9A94-2B94-3158-7A70B1108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10" y="1444487"/>
            <a:ext cx="10515600" cy="3813885"/>
          </a:xfrm>
        </p:spPr>
        <p:txBody>
          <a:bodyPr/>
          <a:lstStyle/>
          <a:p>
            <a:endParaRPr lang="pt-BR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8" name="Rolagem: Horizontal 7">
            <a:extLst>
              <a:ext uri="{FF2B5EF4-FFF2-40B4-BE49-F238E27FC236}">
                <a16:creationId xmlns:a16="http://schemas.microsoft.com/office/drawing/2014/main" id="{D14F258F-8266-6A71-DA08-4F9303F1FFC7}"/>
              </a:ext>
            </a:extLst>
          </p:cNvPr>
          <p:cNvSpPr/>
          <p:nvPr/>
        </p:nvSpPr>
        <p:spPr>
          <a:xfrm>
            <a:off x="504967" y="232012"/>
            <a:ext cx="11209955" cy="5956753"/>
          </a:xfrm>
          <a:prstGeom prst="horizontalScroll">
            <a:avLst>
              <a:gd name="adj" fmla="val 11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2600" dirty="0"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pt-BR" sz="32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Avaliação do semestre</a:t>
            </a:r>
          </a:p>
          <a:p>
            <a:pPr marL="448945" indent="-457200" algn="just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180340" algn="l"/>
              </a:tabLst>
            </a:pPr>
            <a:r>
              <a:rPr lang="pt-BR" sz="28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Avaliação 1 (A1): 5 etapas do Projeto Integrador – 2.0 cada etapa (00 – 10.0).</a:t>
            </a:r>
          </a:p>
          <a:p>
            <a:pPr marL="448945" indent="-457200" algn="just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180340" algn="l"/>
              </a:tabLst>
            </a:pPr>
            <a:r>
              <a:rPr lang="pt-BR" sz="28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Avaliação 2 (A2) e atividades: avaliação escrita individual de interpretação de texto (0.0 – 10.0).</a:t>
            </a:r>
          </a:p>
          <a:p>
            <a:pPr marL="448945" indent="-457200" algn="just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180340" algn="l"/>
              </a:tabLst>
            </a:pPr>
            <a:r>
              <a:rPr lang="pt-BR" sz="2800" kern="100" dirty="0"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Avaliação 3 (A3): 2 etapas do Projeto Integrador – 5.0 cada etapa (0.0 – 10.0). </a:t>
            </a: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pt-BR" sz="2800" kern="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endParaRPr lang="pt-BR" sz="26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22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A150-096E-62F3-5D9D-418D3F6D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Criação de Adão de Michelangelo | Tela para Quadro na Santhatela">
            <a:extLst>
              <a:ext uri="{FF2B5EF4-FFF2-40B4-BE49-F238E27FC236}">
                <a16:creationId xmlns:a16="http://schemas.microsoft.com/office/drawing/2014/main" id="{BE8398C5-57F0-110D-2590-C72AA4BF3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69" y="1037231"/>
            <a:ext cx="6115297" cy="366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dolatria às máquinas: pastor diz que Inteligência Artificial tenta  substituir Deus - Guiame">
            <a:extLst>
              <a:ext uri="{FF2B5EF4-FFF2-40B4-BE49-F238E27FC236}">
                <a16:creationId xmlns:a16="http://schemas.microsoft.com/office/drawing/2014/main" id="{03707743-D0FC-F1D9-3587-2F0F1F71C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266" y="1037231"/>
            <a:ext cx="5581934" cy="366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nda 1">
            <a:extLst>
              <a:ext uri="{FF2B5EF4-FFF2-40B4-BE49-F238E27FC236}">
                <a16:creationId xmlns:a16="http://schemas.microsoft.com/office/drawing/2014/main" id="{CFAD444C-A81E-38A6-CB6C-4645E5429591}"/>
              </a:ext>
            </a:extLst>
          </p:cNvPr>
          <p:cNvSpPr/>
          <p:nvPr/>
        </p:nvSpPr>
        <p:spPr>
          <a:xfrm>
            <a:off x="341194" y="4872250"/>
            <a:ext cx="5754806" cy="846162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pt-BR" sz="2400" b="1" i="0" dirty="0">
                <a:solidFill>
                  <a:srgbClr val="222222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A Criação de Adão de Michelangelo</a:t>
            </a:r>
          </a:p>
        </p:txBody>
      </p:sp>
      <p:sp>
        <p:nvSpPr>
          <p:cNvPr id="3" name="Onda 2">
            <a:extLst>
              <a:ext uri="{FF2B5EF4-FFF2-40B4-BE49-F238E27FC236}">
                <a16:creationId xmlns:a16="http://schemas.microsoft.com/office/drawing/2014/main" id="{4A5BA275-255A-4C55-5482-60AE9039D5FE}"/>
              </a:ext>
            </a:extLst>
          </p:cNvPr>
          <p:cNvSpPr/>
          <p:nvPr/>
        </p:nvSpPr>
        <p:spPr>
          <a:xfrm>
            <a:off x="6523630" y="4804012"/>
            <a:ext cx="5363570" cy="914400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 robô e o homem</a:t>
            </a:r>
          </a:p>
        </p:txBody>
      </p:sp>
    </p:spTree>
    <p:extLst>
      <p:ext uri="{BB962C8B-B14F-4D97-AF65-F5344CB8AC3E}">
        <p14:creationId xmlns:p14="http://schemas.microsoft.com/office/powerpoint/2010/main" val="28941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FA4A-5B15-3DB3-CD3F-08757A9E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E226D-B25E-B426-BFC0-5003C61D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pPr algn="ctr"/>
            <a:r>
              <a:rPr lang="pt-BR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Atividade 1: produção de texto</a:t>
            </a:r>
          </a:p>
        </p:txBody>
      </p:sp>
      <p:pic>
        <p:nvPicPr>
          <p:cNvPr id="2050" name="Picture 2" descr="Quadro Pintura A Criação De Adão, Michelangelo, Tela 60x45cm">
            <a:extLst>
              <a:ext uri="{FF2B5EF4-FFF2-40B4-BE49-F238E27FC236}">
                <a16:creationId xmlns:a16="http://schemas.microsoft.com/office/drawing/2014/main" id="{4FEB89D9-1763-4626-1DB2-AD7876CFD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82" b="2"/>
          <a:stretch/>
        </p:blipFill>
        <p:spPr bwMode="auto">
          <a:xfrm>
            <a:off x="886265" y="2120900"/>
            <a:ext cx="4850751" cy="391866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D2CABA-A881-F146-5AD6-8D1DCC0C4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2120900"/>
            <a:ext cx="5355102" cy="391866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sz="2000" dirty="0"/>
              <a:t>O texto deverá apresentar as seguintes diretrizes:</a:t>
            </a:r>
          </a:p>
          <a:p>
            <a:pPr algn="just">
              <a:lnSpc>
                <a:spcPct val="100000"/>
              </a:lnSpc>
            </a:pPr>
            <a:r>
              <a:rPr lang="pt-BR" sz="2000" dirty="0"/>
              <a:t>1. Estabelecer uma analogia das duas imagens.</a:t>
            </a:r>
          </a:p>
          <a:p>
            <a:pPr algn="just">
              <a:lnSpc>
                <a:spcPct val="100000"/>
              </a:lnSpc>
            </a:pPr>
            <a:r>
              <a:rPr lang="pt-BR" sz="2000" dirty="0"/>
              <a:t>2. Relacionar as imagens à área de Ciências de Dados e Negócios</a:t>
            </a:r>
          </a:p>
          <a:p>
            <a:pPr algn="just">
              <a:lnSpc>
                <a:spcPct val="100000"/>
              </a:lnSpc>
            </a:pPr>
            <a:r>
              <a:rPr lang="pt-BR" sz="2000" dirty="0"/>
              <a:t>3. Elaborar de 4 a 5 parágrafos na estrutura argumentativa (introdução, desenvolvimento e conclusão).</a:t>
            </a:r>
          </a:p>
          <a:p>
            <a:pPr algn="just">
              <a:lnSpc>
                <a:spcPct val="100000"/>
              </a:lnSpc>
            </a:pPr>
            <a:r>
              <a:rPr lang="pt-BR" sz="2000" dirty="0"/>
              <a:t>4. Entregar o texto em documento do Word.  </a:t>
            </a:r>
          </a:p>
        </p:txBody>
      </p:sp>
    </p:spTree>
    <p:extLst>
      <p:ext uri="{BB962C8B-B14F-4D97-AF65-F5344CB8AC3E}">
        <p14:creationId xmlns:p14="http://schemas.microsoft.com/office/powerpoint/2010/main" val="400229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6490D-9483-9C48-A749-DFF48BA8C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AD26C-8208-2332-A0C2-A54F6FE8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161" y="286603"/>
            <a:ext cx="10549720" cy="1078173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Bibliografia Básica e Complementar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FFC79-08D5-195B-EFC5-403F2642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15" y="1965279"/>
            <a:ext cx="11177516" cy="4367282"/>
          </a:xfrm>
        </p:spPr>
        <p:txBody>
          <a:bodyPr>
            <a:normAutofit fontScale="70000" lnSpcReduction="20000"/>
          </a:bodyPr>
          <a:lstStyle/>
          <a:p>
            <a:pPr algn="just">
              <a:spcBef>
                <a:spcPts val="1800"/>
              </a:spcBef>
              <a:spcAft>
                <a:spcPts val="75"/>
              </a:spcAft>
            </a:pPr>
            <a:r>
              <a:rPr lang="pt-BR" sz="2600" b="1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Bibliografia Básica</a:t>
            </a:r>
          </a:p>
          <a:p>
            <a:pPr algn="just">
              <a:spcBef>
                <a:spcPts val="1800"/>
              </a:spcBef>
              <a:spcAft>
                <a:spcPts val="75"/>
              </a:spcAft>
            </a:pPr>
            <a:r>
              <a:rPr lang="pt-BR" sz="26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ANDRADE, M. M. Introdução à metodologia do trabalho científico. 10. ed. São Paulo: Atlas, 2010. ISBN: 8522458561. </a:t>
            </a:r>
            <a:endParaRPr lang="pt-BR" sz="26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1800"/>
              </a:spcBef>
              <a:spcAft>
                <a:spcPts val="75"/>
              </a:spcAft>
            </a:pPr>
            <a:r>
              <a:rPr lang="pt-BR" sz="26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LAKATOS, Eva Maria; MARCONI, Marina de Andrade. Técnicas de Pesquisa. 7ª edição. São Paulo: Atlas, 2009. ISBN: 8522451524. </a:t>
            </a:r>
            <a:endParaRPr lang="pt-BR" sz="26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1800"/>
              </a:spcBef>
              <a:spcAft>
                <a:spcPts val="75"/>
              </a:spcAft>
            </a:pPr>
            <a:r>
              <a:rPr lang="pt-BR" sz="26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PLATÃO SAVIOLI, Francisco; FIORIN, José Luiz. Para entender o Texto, 17ª edição. São Paulo: Ática, 2007. ISBN: 8508108664. </a:t>
            </a:r>
            <a:endParaRPr lang="pt-BR" sz="26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1800"/>
              </a:spcBef>
              <a:spcAft>
                <a:spcPts val="75"/>
              </a:spcAft>
            </a:pPr>
            <a:r>
              <a:rPr lang="pt-BR" sz="2600" b="1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Bibliografia Complementar </a:t>
            </a:r>
            <a:endParaRPr lang="pt-BR" sz="2600" b="1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1800"/>
              </a:spcBef>
              <a:spcAft>
                <a:spcPts val="75"/>
              </a:spcAft>
            </a:pPr>
            <a:r>
              <a:rPr lang="pt-BR" sz="26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MEDEIROS, João Bosco. Redação Científica: a prática de fichamentos, resumos, resenhas. 11 ed. São Paulo: Atlas, 2014. ISBN: 8522490260. </a:t>
            </a:r>
            <a:endParaRPr lang="pt-BR" sz="26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1800"/>
              </a:spcBef>
            </a:pPr>
            <a:r>
              <a:rPr lang="pt-BR" sz="2600" kern="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Aptos" panose="020B0004020202020204" pitchFamily="34" charset="0"/>
                <a:cs typeface="Calibri Light" panose="020F0302020204030204" pitchFamily="34" charset="0"/>
              </a:rPr>
              <a:t>MARTINS, D S; ZILBERKNOP. Português Instrumental: de acordo com as atuais normas da ABNT. 29ª ed. São Paulo: Atlas, 2010. ISBN: 8522457220. </a:t>
            </a:r>
            <a:endParaRPr lang="pt-BR" sz="2600" kern="100" dirty="0">
              <a:effectLst/>
              <a:latin typeface="Calibri Light" panose="020F0302020204030204" pitchFamily="34" charset="0"/>
              <a:ea typeface="Aptos" panose="020B0004020202020204" pitchFamily="34" charset="0"/>
              <a:cs typeface="Calibri Light" panose="020F03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648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33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3C40DECEFF3F45A840C4F2307671DD" ma:contentTypeVersion="0" ma:contentTypeDescription="Crie um novo documento." ma:contentTypeScope="" ma:versionID="cf27f33a97f2444881ad2c2616bb6b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ca9962b6d43157c965ce2f6b732498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77B6BB-F49C-4D44-970F-400286231D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{9C6F2D92-C7B9-49AE-B84D-65F4C9FD8698}tf22712842_win32</Template>
  <TotalTime>149</TotalTime>
  <Words>1226</Words>
  <Application>Microsoft Office PowerPoint</Application>
  <PresentationFormat>Widescreen</PresentationFormat>
  <Paragraphs>94</Paragraphs>
  <Slides>11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Bookman Old Style</vt:lpstr>
      <vt:lpstr>Calibri</vt:lpstr>
      <vt:lpstr>Calibri Light</vt:lpstr>
      <vt:lpstr>Franklin Gothic Book</vt:lpstr>
      <vt:lpstr>Times New Roman</vt:lpstr>
      <vt:lpstr>Wingdings</vt:lpstr>
      <vt:lpstr>Personalizado</vt:lpstr>
      <vt:lpstr>PRODUÇÃO DE TEXTOS E METODOLOGIA CIENTÍFICA/TECNOLÓGICA</vt:lpstr>
      <vt:lpstr> Competências (profissionais e socioemocionais)  </vt:lpstr>
      <vt:lpstr>DISCIPLINA: PRODUÇÃO DE TEXTOS E METODOLOGIA CIENTÍFICA/TECNOLÓGICA  </vt:lpstr>
      <vt:lpstr>Apresentação do PowerPoint</vt:lpstr>
      <vt:lpstr>Apresentação do PowerPoint</vt:lpstr>
      <vt:lpstr>   Projeto Integrador I: fases de desenvolvimento</vt:lpstr>
      <vt:lpstr>   Projeto Integrador I: fases de desenvolvimento</vt:lpstr>
      <vt:lpstr>Apresentação do PowerPoint</vt:lpstr>
      <vt:lpstr>Apresentação do PowerPoint</vt:lpstr>
      <vt:lpstr>Atividade 1: produção de texto</vt:lpstr>
      <vt:lpstr>Bibliografia Básica e Complementar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Lorem Ipsum</dc:title>
  <dc:creator>ROSANA HELENA NUNES</dc:creator>
  <cp:lastModifiedBy>Ana Elisa Rubinato Cavalheiro</cp:lastModifiedBy>
  <cp:revision>61</cp:revision>
  <dcterms:created xsi:type="dcterms:W3CDTF">2024-02-13T23:28:07Z</dcterms:created>
  <dcterms:modified xsi:type="dcterms:W3CDTF">2024-03-20T02:36:27Z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0x010100443C40DECEFF3F45A840C4F2307671DD</vt:lpwstr>
  </property>
</Properties>
</file>